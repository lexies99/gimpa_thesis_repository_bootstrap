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C89D3C"/>
                </a:solidFill>
                <a:latin typeface="Inter"/>
              </a:defRPr>
            </a:pPr>
            <a:r>
              <a:t>GHANA INSTITUTE OF MANAGEMENT AND PUBLIC ADMINISTRATION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Inter"/>
              </a:defRPr>
            </a:pPr>
            <a:r>
              <a:t>GIMPA Thesis &amp; Dissertation</a:t>
            </a:r>
            <a:br/>
            <a:r>
              <a:t>Repository Management System</a:t>
            </a:r>
          </a:p>
          <a:p>
            <a:pPr>
              <a:spcAft>
                <a:spcPts val="3200"/>
              </a:spcAft>
              <a:defRPr sz="1500">
                <a:solidFill>
                  <a:srgbClr val="CBD5E1"/>
                </a:solidFill>
                <a:latin typeface="Inter"/>
              </a:defRPr>
            </a:pPr>
            <a:r>
              <a:t>Comprehensive Digital Lifecycle Platform: From Proposal Submission &amp; ONLYOFFICE In-App Supervision to Multi-Tier Defense Grading &amp; Institutional Archival</a:t>
            </a:r>
          </a:p>
          <a:p>
            <a:pPr>
              <a:defRPr sz="1200" b="1">
                <a:solidFill>
                  <a:srgbClr val="5D6EC7"/>
                </a:solidFill>
                <a:latin typeface="Inter"/>
              </a:defRPr>
            </a:pPr>
            <a:r>
              <a:t>🏛️ Live Production Server: https://thesis.manamatechnologies.com  |  Role-Based System Architecture &amp;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Executive Summary &amp; Institutional Vision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End-to-End Digital Lifecycle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Eliminates paper-based thesis workflows by digitizing every academic phase: initial proposal submission, supervisor assignment, draft reviews, defense examination rubrics, post-defense corrections, dual sign-offs, and library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In-App ONLYOFFICE Grading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Embeds a full-featured collaborative Word processor directly in the browser, allowing supervisors and examiners to add track-changes, highlights, and margin comments without downloading/uploading external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E3F6D"/>
                </a:solidFill>
                <a:latin typeface="Inter"/>
              </a:defRPr>
            </a:pPr>
            <a:r>
              <a:t>12-Stage Doctoral Milestone Hub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Inter"/>
              </a:defRPr>
            </a:pPr>
            <a:r>
              <a:t>A purpose-built governance sub-system for PhD tracking—enforcing 12 strict doctoral milestones, meeting frequency alerts, publication verification, and automated dossier compilation for faculty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Problem Statement &amp; Strategic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11D48"/>
                </a:solidFill>
                <a:latin typeface="Inter"/>
              </a:defRPr>
            </a:pPr>
            <a:r>
              <a:t>⚠️ Challenges of Legacy Paper-Based System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Fragmented Submission Tracks: Printed drafts scattered across departments, leading to missing copies and unverified versions.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Delayed Feedback Loops: Feedback exchange between students, supervisors, and external examiners took weeks via manual email/physical drop-offs.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Examiner Discrepancies: Lack of standard rubric computation, weighted scoring formulas, and clear separation of Undergraduate (1 examiner) vs. Postgraduate (2 examiners) tracks.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Zero Milestone Visibility: No centralized tracking for PhD student progress, supervision meeting frequency, or dormant candidacy alerts.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Archival Loss: Approved research dissertations remained unindexed in physical filing cabinets instead of a searchable academic catalog.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59669"/>
                </a:solidFill>
                <a:latin typeface="Inter"/>
              </a:defRPr>
            </a:pPr>
            <a:r>
              <a:t>🎯 Core Objectives &amp; Solutions Delivered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Unified Digital Pipeline: 6-Phase state machine governing proposals, draft reviews, examination defenses, corrections, and archival.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In-Browser Live Annotations: Integrated ONLYOFFICE Docs Engine for real-time DOCX editing, line comments, and versioned feedback.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Automated Multi-Examiner Rubrics: Dynamic scoring engine that computes final marks, verifies pass thresholds, and enforces dual sign-offs.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PhD Doctoral Progression Hub: 12-stage milestone matrix with automated inactivity alerts, meeting logs, and publication tracking.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Public Institutional Repository: Fully indexed public search portal with faculty filtering (GBS, SPSG, Law, SOTSS), trending analytics, and PDF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1. SYSTEM OBJECTIVE &amp; OVERVIEW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System Architecture &amp; Full-Stack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2A528A"/>
                </a:solidFill>
                <a:latin typeface="Inter"/>
              </a:defRPr>
            </a:pPr>
            <a:r>
              <a:t>Frontend Application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React 19 &amp; React Router 7</a:t>
            </a:r>
            <a:br/>
            <a:r>
              <a:t>Tailwind CSS v4 (Design System)</a:t>
            </a:r>
            <a:br/>
            <a:r>
              <a:t>Lucide React Iconography</a:t>
            </a:r>
            <a:br/>
            <a:r>
              <a:t>Vanilla CSS Dynamic Themes</a:t>
            </a:r>
            <a:br/>
            <a:r>
              <a:t>HTML5 Canvas &amp; PDF Handlers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5D6EC7"/>
                </a:solidFill>
                <a:latin typeface="Inter"/>
              </a:defRPr>
            </a:pPr>
            <a:r>
              <a:t>Backend Services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Python FastAPI (High Performance)</a:t>
            </a:r>
            <a:br/>
            <a:r>
              <a:t>SQLAlchemy ORM &amp; SQLite/Postgres</a:t>
            </a:r>
            <a:br/>
            <a:r>
              <a:t>Pydantic v2 Schema Validation</a:t>
            </a:r>
            <a:br/>
            <a:r>
              <a:t>JWT Authentication &amp; Passlib Hashing</a:t>
            </a:r>
            <a:br/>
            <a:r>
              <a:t>Exim / SMTP Auto-Mailer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1051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7C3AED"/>
                </a:solidFill>
                <a:latin typeface="Inter"/>
              </a:defRPr>
            </a:pPr>
            <a:r>
              <a:t>Document &amp; Storage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ONLYOFFICE DocumentServer</a:t>
            </a:r>
            <a:br/>
            <a:r>
              <a:t>Docker Containerized Microservice</a:t>
            </a:r>
            <a:br/>
            <a:r>
              <a:t>JWT Secure Callback Handlers</a:t>
            </a:r>
            <a:br/>
            <a:r>
              <a:t>DOCX / PDF Binary Storage Engine</a:t>
            </a:r>
            <a:br/>
            <a:r>
              <a:t>Automated Snapshot Backup Daemon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3383280" cy="73152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C89D3C"/>
                </a:solidFill>
                <a:latin typeface="Inter"/>
              </a:defRPr>
            </a:pPr>
            <a:r>
              <a:t>Security &amp; Roles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7-Tier Role-Based Access Control</a:t>
            </a:r>
            <a:br/>
            <a:r>
              <a:t>Granular Department Scoping</a:t>
            </a:r>
            <a:br/>
            <a:r>
              <a:t>Defense Gate Clearance Engine</a:t>
            </a:r>
            <a:br/>
            <a:r>
              <a:t>Tamper-Evident Audit Trails</a:t>
            </a:r>
            <a:br/>
            <a:r>
              <a:t>HTTPS / SSL Encrypted Traffic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11480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059669"/>
                </a:solidFill>
                <a:latin typeface="Inter"/>
              </a:defRPr>
            </a:pPr>
            <a:r>
              <a:t>Academic Workflows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Undergrad Track: 1 Examiner (S1)</a:t>
            </a:r>
            <a:br/>
            <a:r>
              <a:t>Postgrad Track: 2 Examiners ((S1+S2)/2)</a:t>
            </a:r>
            <a:br/>
            <a:r>
              <a:t>Weighted Defense Rubric Matrix</a:t>
            </a:r>
            <a:br/>
            <a:r>
              <a:t>12-Stage PhD Progression Engine</a:t>
            </a:r>
            <a:br/>
            <a:r>
              <a:t>Coordinator &amp; HOD Dual Sign-offs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148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4114800"/>
            <a:ext cx="3383280" cy="7315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279392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 b="1">
                <a:solidFill>
                  <a:srgbClr val="1E293B"/>
                </a:solidFill>
                <a:latin typeface="Inter"/>
              </a:defRPr>
            </a:pPr>
            <a:r>
              <a:t>Cloud &amp; Infrastructure</a:t>
            </a:r>
          </a:p>
          <a:p>
            <a:pPr>
              <a:lnSpc>
                <a:spcPct val="125000"/>
              </a:lnSpc>
              <a:defRPr sz="1050">
                <a:solidFill>
                  <a:srgbClr val="1E293B"/>
                </a:solidFill>
                <a:latin typeface="Inter"/>
              </a:defRPr>
            </a:pPr>
            <a:r>
              <a:t>Ubuntu 22.04 LTS Production VPS</a:t>
            </a:r>
            <a:br/>
            <a:r>
              <a:t>Nginx Reverse Proxy &amp; Load Balancer</a:t>
            </a:r>
            <a:br/>
            <a:r>
              <a:t>Systemd Daemon Service Supervision</a:t>
            </a:r>
            <a:br/>
            <a:r>
              <a:t>Cloudflare Edge Caching &amp; WAF</a:t>
            </a:r>
            <a:br/>
            <a:r>
              <a:t>Git CI/CD Synchronized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Role-Based Access Control (RBAC) Hierarchy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18488"/>
            <a:ext cx="2011680" cy="438912"/>
          </a:xfrm>
          <a:prstGeom prst="round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3677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Student / Candidate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61848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Submit proposals, upload drafts, edit thesis directly in ONLYOFFICE, review examiner feedback, submit post-defense revisions, log PhD meetings.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350008"/>
            <a:ext cx="2011680" cy="438912"/>
          </a:xfrm>
          <a:prstGeom prst="round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Project 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5000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Guide candidates, conduct in-app reviews, annotate thesis in ONLYOFFICE, track 12-stage milestones, sign off on defense readiness.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081528"/>
            <a:ext cx="201168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981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Examiner (Int/Ext)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8152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Access assigned scripts, conduct blind/open evaluations, fill structured rubric rubrics, provide in-doc comments, submit pass/correction verdicts.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813048"/>
            <a:ext cx="2011680" cy="43891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HOD / 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1304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Department-wide thesis pipeline oversight, allocate examiners, schedule defenses, compute final scores, provide primary academic sign-off.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4544568"/>
            <a:ext cx="201168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6285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Dean of Faculty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54456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Faculty-wide completion analytics, review departmental defense results, grant final institutional clearance for graduation.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5276088"/>
            <a:ext cx="2011680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29437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Librarian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27608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Repository curation, metadata enrichment, indexing approved dissertations, managing public embargoes, catalog publishing.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8978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6007608"/>
            <a:ext cx="201168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25896"/>
            <a:ext cx="20116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System Administrator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007608"/>
            <a:ext cx="8138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  <a:latin typeface="Inter"/>
              </a:defRPr>
            </a:pPr>
            <a:r>
              <a:t>User management, bulk CSV student/staff onboarding, system broadcast announcements, database maintenance,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Master Role Use Case Architecture Diagram</a:t>
            </a:r>
          </a:p>
        </p:txBody>
      </p:sp>
      <p:pic>
        <p:nvPicPr>
          <p:cNvPr id="3" name="Picture 2" descr="usecase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Detailed Use Cases: Student &amp; Supervisor Interactions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A528A"/>
                </a:solidFill>
                <a:latin typeface="Inter"/>
              </a:defRPr>
            </a:pPr>
            <a:r>
              <a:t>🎓 Student / Candidate Use Cases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UC-S1: Submit Research Proposal — Enter title, abstract, degree level (Undergrad / Masters / PhD), faculty, and upload draft.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UC-S2: In-App ONLYOFFICE Revisions — Launch in-browser DOCX editor, apply corrections, view real-time examiner markup.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UC-S3: Track Pipeline Progression — Monitor live status across 6 phases (Proposal -&gt; Review -&gt; Defense -&gt; Corrections -&gt; Sign-off -&gt; Archival).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UC-S4: Submit Post-Defense Corrections — Upload final revised thesis or submit one-click in-system ONLYOFFICE edits.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UC-S5: Log PhD Supervision Meetings — Record meeting date, discussion notes, action items, and next milestone targets.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5D6EC7"/>
                </a:solidFill>
                <a:latin typeface="Inter"/>
              </a:defRPr>
            </a:pPr>
            <a:r>
              <a:t>👨‍🏫 Project Supervisor Use Cases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UC-SUP1: Supervise Assigned Candidates — Access active student roster, view research topics, and monitor chapter submission dates.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UC-SUP2: Live Collaborative In-Doc Review — Use ONLYOFFICE Word tools to insert margin comments, suggest track-changes, and highlight text.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UC-SUP3: Grade Undergraduate Theses — As sole examiner (S1), evaluate final undergraduate project and enter rubric score.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UC-SUP4: Approve 12-Stage PhD Milestones — Validate student milestone submissions, sign off on meeting logs, and verify publication criteria.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UC-SUP5: Post-Defense Correction Sign-off — Verify student has resolved all examiner feedback before passing to HOD.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Detailed Use Cases: Examiner, HOD &amp; Dean Governance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D97706"/>
                </a:solidFill>
                <a:latin typeface="Inter"/>
              </a:defRPr>
            </a:pPr>
            <a:r>
              <a:t>Examiner (Int/Ext)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UC-EX1: Review Assigned Thesis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UC-EX2: Fill Standardized Rubric Matrix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UC-EX3: Provide Qualitative In-Doc Feedback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UC-EX4: Submit Verdict (Pass / Corrections / Fail)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UC-EX5: Download Blind Assessment Scripts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E11D48"/>
                </a:solidFill>
                <a:latin typeface="Inter"/>
              </a:defRPr>
            </a:pPr>
            <a:r>
              <a:t>HOD / Coordinator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UC-HOD1: Departmental Pipeline Oversight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UC-HOD2: Assign Internal &amp; External Examiners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UC-HOD3: Schedule Oral Defense Sessions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UC-HOD4: Compute Weighted Final Grade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UC-HOD5: Authorize Phase 5 Sign-off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7C3AED"/>
                </a:solidFill>
                <a:latin typeface="Inter"/>
              </a:defRPr>
            </a:pPr>
            <a:r>
              <a:t>Dean of Faculty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UC-DN1: Faculty-Wide Completion Analytics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UC-DN2: Review Cross-Department Defenses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UC-DN3: Grant Final Faculty Clearance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UC-DN4: Export Institutional Accreditation Reports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✔ UC-DN5: Monitor Academic Integrity Audits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2. USE CASE ARCHITECTURE &amp; ROLES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Detailed Use Cases: Librarian &amp; System Administration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59669"/>
                </a:solidFill>
                <a:latin typeface="Inter"/>
              </a:defRPr>
            </a:pPr>
            <a:r>
              <a:t>📚 Librarian / Repository Curator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UC-LIB1: Curate Approved Theses — Ingest theses that have received final Dean clearance into the digital repository.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UC-LIB2: Metadata Enrichment &amp; DOI Tagging — Assign academic keywords, Dewey/LC classification, and institutional metadata.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UC-LIB3: Embargo &amp; Access Management — Configure public access, campus-only restrictions, or temporary publication embargoes.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UC-LIB4: Catalog Indexing &amp; Publishing — Publish finalized dissertations to the public search catalog for global research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293B"/>
                </a:solidFill>
                <a:latin typeface="Inter"/>
              </a:defRPr>
            </a:pPr>
            <a:r>
              <a:t>⚙️ System Administrator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UC-ADM1: User &amp; Role Provisioning — Create, activate, suspend accounts, and assign multi-role permission matrices.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UC-ADM2: Bulk CSV Student &amp; Staff Onboarding — Import hundreds of student/staff records from university SIS CSV files in one click.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UC-ADM3: Broadcast Announcement Engine — Dispatch system-wide announcements and alert banners with target role scoping.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UC-ADM4: Diagnostics &amp; Audit Logging — Monitor API endpoints, track user authentication events, and execute database backups.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1: Public Research Catalog &amp; Faculty Portals (`/`)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ublic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The front-facing gateway showcasing GIMPA's approved dissertations, master's theses, and academic publications.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Open to global researchers, students, and faculty without requiring an upfront login for public discovery.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Organized by academic faculty portals: GBS (Business School), SPSG (Public Service &amp; Governance), Faculty of Law, and SOTSS (Technology &amp; Social Sciences).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Trending, Highest Rated, &amp; Most Downloaded publication tabs.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Live dynamic search bar with immediate query filtering.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Faculty filter cards for instant departmental slicing.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Direct sign-in portal button for registered students and faculty.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2: Advanced Search &amp; Discovery Engine (`/search`)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arch_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Multi-dimensional research engine enabling deep academic literature discovery across GIMPA's repository.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Allows filtering by author name, research title, supervisor, abstract keywords, publication year, and academic degree.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Supports faceted exploration to identify research trends, departmental output, and historical academic works.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Multi-field boolean filtering (Degree level, Faculty, Year, Department).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Interactive publication preview drawer with abstract viewer.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Download count tracker and citation metadata generation.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Clean tabular &amp; card display modes with instant sorting.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3: Authentication &amp; Role-Based Login (`/login`)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Secure single point of entry for all 7 system roles using university credentials (Student ID or Staff Email).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Implements JSON Web Token (JWT) stateless session handling with cryptographic signature verification.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Automatically detects role permissions and routes users to their personalized dashboard workspace.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Seamless institutional authentication with password hashing (bcrypt).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Remember-me persistence and password recovery workflow.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Automatic role dispatch (Student -&gt; Dashboard, Examiner -&gt; Workflow, Admin -&gt; Mgmt).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Zero unauthorized route leakage via client-side &amp; server-side auth guards.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4: Student Dashboard &amp; 6-Phase Pipeline Tracker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Personalized academic command center for students and doctoral candidates to submit work and monitor progress.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Displays the live 6-phase academic lifecycle banner, showing exact current status, review stage, and required next steps.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Houses the dedicated ONLYOFFICE In-App Revision Panel for viewing examiner remarks and editing thesis DOCX in real-time.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Proposal &amp; Thesis upload form (Title, Abstract, Department, Degree Level).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Active stage badge chip with real-time status updates.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Examiner feedback evaluation box displaying compiled remarks.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One-click 'Submit In-System ONLYOFFICE Edits' workflow.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5: ONLYOFFICE In-App DOCX Editing &amp; Feedback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ment_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Embedded enterprise document suite (ONLYOFFICE Docs) powering in-browser thesis editing without Microsoft Word installation.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Enables supervisors and examiners to annotate candidate submissions with margin comments, highlights, and tracked changes.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Automatically synchronizes edits back to the GIMPA repository backend upon document closure.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Full Microsoft Word (.docx) feature compatibility in-browser.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Side-by-side comment stream and multi-user change tracking.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Two distinct view modes: Thesis Editor and Feedback Comments Document.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Secure tokenized document server callbacks preventing data leaks.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6: Examiner Evaluation &amp; Rubric Grading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rov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Dedicated grading interface for Internal and External Examiners to review assigned dissertations.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Enforces standardized institutional grading rubrics (Problem Statement, Literature Review, Methodology, Analysis, Defense).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Calculates weighted marks and enforces official examination verdicts: Pass, Minor Corrections, Major Corrections, or Resubmit.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Blind/open thesis document viewer with instant script download.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Structured rubric score inputs with auto-calculating total mark.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Detailed examiner feedback text box for defense committee compilation.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Automatic separation of Undergrad (1 examiner) vs Postgrad (2 examiners) tracks.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7: PhD Hub — 12-Stage Doctoral Milestone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d_supervision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Specialized doctoral governance module mapping candidate progression across the mandatory 12 PhD stages.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Tracks milestones from Stage 1 (Concept Paper) through Fieldwork, 3x Journal Publications, to Final Viva Defense and Archival.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Provides automated meeting logging and supervision compliance analytics to prevent dormant candidacies.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12-Stage visual progression bar with milestone completion checkmarks.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Supervision Meeting Logger: captures date, discussion summary, and deliverables.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Days-since-last-meeting counter with automatic yellow/red alert flags.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Publication verification tab ensuring doctoral accreditation compliance.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8: PhD Student Dossiers &amp; Inactivity Risk Tracker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d_hub_doss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Comprehensive candidate directory allowing Deans, HODs, and Supervisors to inspect individual doctoral progress dossiers.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Highlights high-risk candidates who have not had a supervision meeting in &gt;30 or &gt;60 days.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Serves as the institutional single source of truth for doctoral accreditation and graduation readiness.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Summary KPI header: Active Doctoral Candidates, At Risk, Progress Rate.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Individual Dossier Cards: Department, Stage Number, Current Milestone.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Interactive search and filter by department and supervision status.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One-click drilldown into complete 12-stage milestone logs.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9: HOD &amp; Coordinator Defense Scheduling &amp; Sign-Off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rova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Central administration hub for Heads of Department and Programme Coordinators to manage defense logistics.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Allows assigning Internal and External Examiners to submitted student theses.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Compiles examiner marks, computes final weighted scores, and issues Phase 5 post-defense authorization.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Examiner Allocation Modal: Assign qualified faculty to candidates.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Defense score compiler: Aggregates Internal (S1) + External (S2) scores.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Dual sign-off authorization engine (Supervisor -&gt; HOD/Coordinator).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Departmental completion export and audit log generation.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10: System Administration &amp; User Management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dmin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Full administrative suite for System Administrators to govern accounts, system security, and broadcast engines.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Features multi-role assignment, account locking, password resets, and role elevation.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Includes the Broadcast Engine to send instantaneous targeted announcements across all user dashboards.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User accounts table with instant filtering by name, email, and role.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Inline role switcher (promote/demote roles with instant DB commit).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Broadcast Engine: compose alert banners with targeted role scopes.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System health diagnostics, active sessions, and database backup controls.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3. PAGE-BY-PAGE SYSTEM WALKTHROUGH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Page 11: Bulk CSV Student &amp; Staff Onboarding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lk_csv_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6035040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463040"/>
            <a:ext cx="42976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F6D"/>
                </a:solidFill>
                <a:latin typeface="Inter"/>
              </a:defRPr>
            </a:pPr>
            <a:r>
              <a:t>📌 Page Purpose &amp; Meaning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High-throughput data ingestion tool allowing administrators to onboard entire academic cohorts in seconds.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Parses institutional CSV files containing Student ID, Name, Email, School, Department, Degree Level, and Cohort Year.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• Automatically creates secure hashed accounts and triggers welcome credential emails via SMTP.</a:t>
            </a:r>
          </a:p>
          <a:p>
            <a:br/>
            <a:pPr>
              <a:spcAft>
                <a:spcPts val="600"/>
              </a:spcAft>
              <a:defRPr sz="1400" b="1">
                <a:solidFill>
                  <a:srgbClr val="5D6EC7"/>
                </a:solidFill>
                <a:latin typeface="Inter"/>
              </a:defRPr>
            </a:pPr>
            <a:r>
              <a:t>⚡ Key System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Drag-and-drop CSV file uploader with schema validation.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Duplicate record detection and existing account update rules.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Real-time import progress bar and error reporting summary.</a:t>
            </a:r>
          </a:p>
          <a:p>
            <a:pPr>
              <a:spcAft>
                <a:spcPts val="400"/>
              </a:spcAft>
              <a:defRPr sz="1050">
                <a:solidFill>
                  <a:srgbClr val="1E293B"/>
                </a:solidFill>
                <a:latin typeface="Inter"/>
              </a:defRPr>
            </a:pPr>
            <a:r>
              <a:t>✔ Automatic assignment of default degree tracks and faculty departments.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PhD Hub: 12-Stage Doctoral Progression Framework</a:t>
            </a:r>
          </a:p>
        </p:txBody>
      </p:sp>
      <p:pic>
        <p:nvPicPr>
          <p:cNvPr id="3" name="Picture 2" descr="phd_12stag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Enterprise Security, Compliance &amp; Audit Trails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109728"/>
          </a:xfrm>
          <a:prstGeom prst="rect">
            <a:avLst/>
          </a:prstGeom>
          <a:solidFill>
            <a:srgbClr val="1E3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3F6D"/>
                </a:solidFill>
                <a:latin typeface="Inter"/>
              </a:defRPr>
            </a:pPr>
            <a:r>
              <a:t>Cryptographic Security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JWT Stateless Tokens with SHA-256 signatures.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bcrypt password hashing with salt rounds.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HTTPS / TLS encryption on all API endpoints.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Document server callback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383280" cy="109728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5D6EC7"/>
                </a:solidFill>
                <a:latin typeface="Inter"/>
              </a:defRPr>
            </a:pPr>
            <a:r>
              <a:t>Academic Integrity &amp; Compliance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Strict defense gate clearance before grade release.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Dual sign-off requirement (Supervisor + HOD).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Immutable examiner scoring records.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Anti-tamper PDF publication watermarking.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38328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59669"/>
                </a:solidFill>
                <a:latin typeface="Inter"/>
              </a:defRPr>
            </a:pPr>
            <a:r>
              <a:t>Audit Logs &amp; Data Protection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Complete timestamped audit trail of all grade changes.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Automated database backup snapshots.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Role-scoped data isolation across departments.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Inter"/>
              </a:defRPr>
            </a:pPr>
            <a:r>
              <a:t>• GDPR &amp; Institutional data privacy compliance.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C89D3C"/>
                </a:solidFill>
                <a:latin typeface="Inter"/>
              </a:defRPr>
            </a:pPr>
            <a:r>
              <a:t>4. TECHNICAL EXCELLENCE &amp; GOVERNANCE</a:t>
            </a:r>
          </a:p>
          <a:p>
            <a:pPr>
              <a:defRPr sz="2200" b="1">
                <a:solidFill>
                  <a:srgbClr val="1E3F6D"/>
                </a:solidFill>
                <a:latin typeface="Inter"/>
              </a:defRPr>
            </a:pPr>
            <a:r>
              <a:t>Live Production Deployment &amp;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9728" cy="1325880"/>
          </a:xfrm>
          <a:prstGeom prst="rect">
            <a:avLst/>
          </a:prstGeom>
          <a:solidFill>
            <a:srgbClr val="2A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A528A"/>
                </a:solidFill>
                <a:latin typeface="Inter"/>
              </a:defRPr>
            </a:pPr>
            <a:r>
              <a:t>Production Host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Ubuntu 22.04 LTS (VPS IP: 46.62.214.146)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Managed under /home/admin/web/thesis.manamatechnologies.com/app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109728" cy="1325880"/>
          </a:xfrm>
          <a:prstGeom prst="rect">
            <a:avLst/>
          </a:prstGeom>
          <a:solidFill>
            <a:srgbClr val="5D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D6EC7"/>
                </a:solidFill>
                <a:latin typeface="Inter"/>
              </a:defRPr>
            </a:pPr>
            <a:r>
              <a:t>Public Domain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https://thesis.manamatechnologies.com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Proxied via Cloudflare CDN with automated SSL/TLS termination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109728" cy="13258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59669"/>
                </a:solidFill>
                <a:latin typeface="Inter"/>
              </a:defRPr>
            </a:pPr>
            <a:r>
              <a:t>Backend Daemon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gimpa-backend.service (Systemd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FastAPI running on Uvicorn ASGI with multi-worker concurrency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154680"/>
            <a:ext cx="109728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9184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7C3AED"/>
                </a:solidFill>
                <a:latin typeface="Inter"/>
              </a:defRPr>
            </a:pPr>
            <a:r>
              <a:t>Frontend Daemon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gimpa-frontend.service (Systemd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Node.js production server hosting optimized React 19 / Vite build bundles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9728" cy="1325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Inter"/>
              </a:defRPr>
            </a:pPr>
            <a:r>
              <a:t>DocServer Container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onlyoffice-documentserver (Docker Managed)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Isolated container running document conversion and real-time collaboration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212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663440"/>
            <a:ext cx="109728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00600"/>
            <a:ext cx="4754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  <a:latin typeface="Inter"/>
              </a:defRPr>
            </a:pPr>
            <a:r>
              <a:t>Continuous Delivery</a:t>
            </a:r>
          </a:p>
          <a:p>
            <a:pPr>
              <a:defRPr sz="1050">
                <a:solidFill>
                  <a:srgbClr val="1E293B"/>
                </a:solidFill>
                <a:latin typeface="Inter"/>
              </a:defRPr>
            </a:pPr>
            <a:r>
              <a:t>Git-synchronized continuous deployment with automated rebuild and restart daemons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89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C89D3C"/>
                </a:solidFill>
                <a:latin typeface="Inter"/>
              </a:defRPr>
            </a:pPr>
            <a:r>
              <a:t>TRANSFORMING GIMPA RESEARCH EXCELLENCE</a:t>
            </a:r>
          </a:p>
          <a:p>
            <a:pPr>
              <a:spcAft>
                <a:spcPts val="2400"/>
              </a:spcAft>
              <a:defRPr sz="3200" b="1">
                <a:solidFill>
                  <a:srgbClr val="FFFFFF"/>
                </a:solidFill>
                <a:latin typeface="Inter"/>
              </a:defRPr>
            </a:pPr>
            <a:r>
              <a:t>Key Institutional Outcomes &amp; Next Steps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100% Paperless Workflow: Reduced thesis administration turnaround time from months to days.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Zero Lost Feedback: All examiner remarks and annotations permanently recorded in ONLYOFFICE version histories.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Accreditation Confidence: Rigorous 12-stage milestone compliance and verifiable publication records for PhDs.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Global Academic Visibility: GIMPA research discoverable by international institutions via the public catalog portal.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Inter"/>
              </a:defRPr>
            </a:pPr>
            <a:r>
              <a:t>✔  Scalable Infrastructure: Enterprise-grade architecture ready to support thousands of students across all academic faculties.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