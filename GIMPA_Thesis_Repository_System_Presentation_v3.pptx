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C89D3C"/>
                </a:solidFill>
                <a:latin typeface="Inter"/>
              </a:defRPr>
            </a:pPr>
            <a:r>
              <a:t>GHANA INSTITUTE OF MANAGEMENT AND PUBLIC ADMINISTRATION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GIMPA Thesis &amp; Dissertation</a:t>
            </a:r>
            <a:br/>
            <a:r>
              <a:t>Repository Management System</a:t>
            </a:r>
          </a:p>
          <a:p>
            <a:pPr>
              <a:spcAft>
                <a:spcPts val="32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Comprehensive Digital Lifecycle Platform: From Proposal Submission &amp; ONLYOFFICE In-App Supervision to Multi-Tier Defense Grading &amp; Institutional Archival</a:t>
            </a:r>
          </a:p>
          <a:p>
            <a:pPr>
              <a:defRPr sz="1200" b="1">
                <a:solidFill>
                  <a:srgbClr val="5D6EC7"/>
                </a:solidFill>
                <a:latin typeface="Inter"/>
              </a:defRPr>
            </a:pPr>
            <a:r>
              <a:t>🏛️ Live Production Server: https://thesis.manamatechnologies.com  |  Role-Based Desktop Walkthrough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Executive Summary &amp; Institutional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End-to-End Digital Lifecycle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Eliminates paper-based thesis workflows by digitizing every academic phase: initial proposal submission, supervisor assignment, draft reviews, defense examination rubrics, post-defense corrections, dual sign-offs, and library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In-App ONLYOFFICE Grading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Embeds a full-featured collaborative Word processor directly in the browser, allowing supervisors and examiners to add track-changes, highlights, and margin comments without downloading/uploading external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12-Stage Doctoral Milestone Hub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A purpose-built governance sub-system for PhD tracking—enforcing 12 strict doctoral milestones, meeting frequency alerts, publication verification, and automated dossier compilation for faculty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Problem Statement &amp; Strategic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11D48"/>
                </a:solidFill>
                <a:latin typeface="Inter"/>
              </a:defRPr>
            </a:pPr>
            <a:r>
              <a:t>⚠️ Challenges of Legacy Paper-Based System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Fragmented Submission Tracks: Printed drafts scattered across departments, leading to missing copies and unverified versions.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Delayed Feedback Loops: Feedback exchange between students, supervisors, and external examiners took weeks via manual email/physical drop-offs.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Examiner Discrepancies: Lack of standard rubric computation, weighted scoring formulas, and clear separation of Undergraduate (1 examiner) vs. Postgraduate (2 examiners) tracks.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Zero Milestone Visibility: No centralized tracking for PhD student progress, supervision meeting frequency, or dormant candidacy alerts.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Archival Loss: Approved research dissertations remained unindexed in physical filing cabinets instead of a searchable academic catalog.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59669"/>
                </a:solidFill>
                <a:latin typeface="Inter"/>
              </a:defRPr>
            </a:pPr>
            <a:r>
              <a:t>🎯 Core Objectives &amp; Solutions Delivered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Unified Digital Pipeline: 6-Phase state machine governing proposals, draft reviews, examination defenses, corrections, and archival.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In-Browser Live Annotations: Integrated ONLYOFFICE Docs Engine for real-time DOCX editing, line comments, and versioned feedback.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Automated Multi-Examiner Rubrics: Dynamic scoring engine that computes final marks, verifies pass thresholds, and enforces dual sign-offs.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PhD Doctoral Progression Hub: 12-stage milestone matrix with automated inactivity alerts, meeting logs, and publication tracking.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Public Institutional Repository: Fully indexed public search portal with faculty filtering (GBS, SPSG, Law, SOTSS), trending analytics, and PDF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System Architecture &amp; Full-Stack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A528A"/>
                </a:solidFill>
                <a:latin typeface="Inter"/>
              </a:defRPr>
            </a:pPr>
            <a:r>
              <a:t>Frontend Application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React 19 &amp; React Router 7</a:t>
            </a:r>
            <a:br/>
            <a:r>
              <a:t>Tailwind CSS v4 (Design System)</a:t>
            </a:r>
            <a:br/>
            <a:r>
              <a:t>Lucide React Iconography</a:t>
            </a:r>
            <a:br/>
            <a:r>
              <a:t>Vanilla CSS Dynamic Themes</a:t>
            </a:r>
            <a:br/>
            <a:r>
              <a:t>HTML5 Canvas &amp; PDF Handlers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5D6EC7"/>
                </a:solidFill>
                <a:latin typeface="Inter"/>
              </a:defRPr>
            </a:pPr>
            <a:r>
              <a:t>Backend Services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Python FastAPI (High Performance)</a:t>
            </a:r>
            <a:br/>
            <a:r>
              <a:t>SQLAlchemy ORM &amp; SQLite/Postgres</a:t>
            </a:r>
            <a:br/>
            <a:r>
              <a:t>Pydantic v2 Schema Validation</a:t>
            </a:r>
            <a:br/>
            <a:r>
              <a:t>JWT Authentication &amp; Passlib Hashing</a:t>
            </a:r>
            <a:br/>
            <a:r>
              <a:t>Exim / SMTP Auto-Mailer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7C3AED"/>
                </a:solidFill>
                <a:latin typeface="Inter"/>
              </a:defRPr>
            </a:pPr>
            <a:r>
              <a:t>Document &amp; Storage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ONLYOFFICE DocumentServer</a:t>
            </a:r>
            <a:br/>
            <a:r>
              <a:t>Docker Containerized Microservice</a:t>
            </a:r>
            <a:br/>
            <a:r>
              <a:t>JWT Secure Callback Handlers</a:t>
            </a:r>
            <a:br/>
            <a:r>
              <a:t>DOCX / PDF Binary Storage Engine</a:t>
            </a:r>
            <a:br/>
            <a:r>
              <a:t>Automated Snapshot Backup 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3383280" cy="73152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C89D3C"/>
                </a:solidFill>
                <a:latin typeface="Inter"/>
              </a:defRPr>
            </a:pPr>
            <a:r>
              <a:t>Security &amp; Roles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7-Tier Role-Based Access Control</a:t>
            </a:r>
            <a:br/>
            <a:r>
              <a:t>Granular Department Scoping</a:t>
            </a:r>
            <a:br/>
            <a:r>
              <a:t>Defense Gate Clearance Engine</a:t>
            </a:r>
            <a:br/>
            <a:r>
              <a:t>Tamper-Evident Audit Trails</a:t>
            </a:r>
            <a:br/>
            <a:r>
              <a:t>HTTPS / SSL Encrypted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11480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59669"/>
                </a:solidFill>
                <a:latin typeface="Inter"/>
              </a:defRPr>
            </a:pPr>
            <a:r>
              <a:t>Academic Workflows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Undergrad Track: 1 Examiner (S1)</a:t>
            </a:r>
            <a:br/>
            <a:r>
              <a:t>Postgrad Track: 2 Examiners ((S1+S2)/2)</a:t>
            </a:r>
            <a:br/>
            <a:r>
              <a:t>Weighted Defense Rubric Matrix</a:t>
            </a:r>
            <a:br/>
            <a:r>
              <a:t>12-Stage PhD Progression Engine</a:t>
            </a:r>
            <a:br/>
            <a:r>
              <a:t>Coordinator &amp; HOD Dual Sign-offs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4114800"/>
            <a:ext cx="3383280" cy="731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293B"/>
                </a:solidFill>
                <a:latin typeface="Inter"/>
              </a:defRPr>
            </a:pPr>
            <a:r>
              <a:t>Cloud &amp; Infrastructure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Ubuntu 22.04 LTS Production VPS</a:t>
            </a:r>
            <a:br/>
            <a:r>
              <a:t>Nginx Reverse Proxy &amp; Load Balancer</a:t>
            </a:r>
            <a:br/>
            <a:r>
              <a:t>Systemd Daemon Service Supervision</a:t>
            </a:r>
            <a:br/>
            <a:r>
              <a:t>Cloudflare Edge Caching &amp; WAF</a:t>
            </a:r>
            <a:br/>
            <a:r>
              <a:t>Git CI/CD Synchronized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Role-Based Access Control (RBAC) Hierarchy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18488"/>
            <a:ext cx="2286000" cy="438912"/>
          </a:xfrm>
          <a:prstGeom prst="round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36776"/>
            <a:ext cx="2286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Student (e.g., John Smith)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18488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Submit proposals, upload drafts, edit thesis directly in ONLYOFFICE, review examiner feedback, submit post-defense revisions, log PhD meetings.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350008"/>
            <a:ext cx="2286000" cy="438912"/>
          </a:xfrm>
          <a:prstGeom prst="round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286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Supervisor (e.g., Abena Osei)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50008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Guide candidates, conduct in-app reviews, annotate thesis in ONLYOFFICE, track 12-stage milestones, sign off on defense readiness.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081528"/>
            <a:ext cx="228600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6"/>
            <a:ext cx="2286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Examiner (Int / 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081528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Access assigned scripts, conduct blind/open evaluations, fill structured rubric rubrics, provide in-doc comments, submit pass/correction verdicts.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813048"/>
            <a:ext cx="228600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6"/>
            <a:ext cx="2286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HOD (e.g., Kwame Boadu)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13048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Department-wide thesis pipeline oversight, allocate examiners, schedule defenses, compute final scores, provide primary academic sign-off.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544568"/>
            <a:ext cx="228600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62856"/>
            <a:ext cx="2286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Coordinator (e.g., Yaw Asante)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44568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Coordinate department defense logistics, compile multi-examiner scores, track student progress, coordinate revisions.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276088"/>
            <a:ext cx="2286000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94376"/>
            <a:ext cx="2286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Dean (e.g., Kofi Mensah)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276088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Faculty-wide completion analytics, review departmental defense results, grant final institutional clearance for graduation.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8978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6007608"/>
            <a:ext cx="228600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25896"/>
            <a:ext cx="2286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System Administrator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6007608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User management, bulk CSV student/staff onboarding, system broadcast announcements, database maintenance,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Master Role Use Case Architecture Diagram</a:t>
            </a:r>
          </a:p>
        </p:txBody>
      </p:sp>
      <p:pic>
        <p:nvPicPr>
          <p:cNvPr id="3" name="Picture 2" descr="usecase_mast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UML Use Case Diagram: Student &amp; Supervisor Lifecycle</a:t>
            </a:r>
          </a:p>
        </p:txBody>
      </p:sp>
      <p:pic>
        <p:nvPicPr>
          <p:cNvPr id="3" name="Picture 2" descr="usecase_student_super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1: Public Research Catalog &amp; Faculty Portals (`/`)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ublic_catalog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Public / Unauthenticated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Front-facing portal showcasing GIMPA's approved dissertations and academic works.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Open to global researchers and students without requiring upfront authentication.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Organized by 4 faculty portals: GBS, SPSG, Law, and SOTSS.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Trending, Highest Rated, &amp; Most Downloaded publication tabs.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Real-time search bar with instant query matching.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Departmental filter cards for focused literature discovery.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Direct sign-in gateway button for registered students and staff.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2: Advanced Search &amp; Discovery Engine (`/search`)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rch_discovery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Public / Unauthenticated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Multi-field research search engine for deep literature discovery across GIMPA repositories.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Enables filtering by author, title, supervisor, abstract keywords, year, and degree.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Supports faceted exploration of institutional research trends and publication output.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Multi-field boolean filtering (Undergraduate, Masters, MPhil, PhD).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Interactive publication preview drawer with abstract viewer.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Citation metadata generator and direct download triggers.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Instant sorting by publication date and download count.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3: Authentication &amp; Role-Based Login (`/login`)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in_screen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All Institutional Users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Single secure gateway for all 7 roles using university credentials (Student ID / Email).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Implements JWT stateless session tokens with SHA-256 cryptographic signatures.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Automatically detects user permissions and routes them to their personalized dashboard.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Instant institutional credential verification with bcrypt password hashing.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Clean desktop split-panel layout with university statistics display.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Automatic role-based route dispatch upon successful sign-in.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Protected API endpoints preventing unauthorized URL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4: Student Dashboard &amp; Submission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ent_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John Smith (Student)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Personalized command center for candidates to submit proposals and monitor progress.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Displays the live 6-phase academic lifecycle banner with active phase indicators.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Contains the dedicated ONLYOFFICE In-App Revision panel for in-browser editing.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Proposal &amp; Thesis upload form (Title, Abstract, Department, Degree Level).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Live phase progress tracker with status badges.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Examiner feedback box showing compiled defense remarks.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One-click 'Submit In-System ONLYOFFICE Edits'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5: ONLYOFFICE In-App DOCX Editing &amp; Feedback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ment_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John Smith / Supervisor / Examiner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Embedded enterprise document editor (ONLYOFFICE Docs) for browser-based DOCX editing.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Allows supervisors and examiners to annotate drafts with margin comments and highlights.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Automatically persists and commits edits back to the repository upon document closure.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Full Microsoft Word (.docx) feature fidelity directly in the browser.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Collaborative change tracking and margin feedback thread view.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Dual modes: Working Thesis Editor and Feedback Comments Document.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Secure tokenized callback API preventing unauthorized document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6: Lecturer &amp; Supervisor Management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cturer_supervisor_examiner_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Abena Osei (Lecturer / Supervisor)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Operational hub for Lecturers and Supervisors to oversee assigned supervisees.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Provides quick access to candidate drafts, meeting logs, and milestone submissions.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Allows supervisors to perform in-doc reviews and sign off on thesis defense readiness.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Active supervisees table with real-time submission status.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Direct button to open student thesis in ONLYOFFICE Word editor.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Milestone verification and PhD meeting logger validation.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Defense readiness authorization sign-off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7: Head of Department (HOD) Oversight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od_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Kwame Boadu (Head of Department)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Departmental governance portal for HODs to manage thesis pipelines across their department.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Enables assigning Internal and External Examiners to submitted student theses.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Aggregates defense scores and issues primary departmental Phase 5 sign-offs.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Department-wide thesis pipeline summary and candidate queues.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Examiner allocation modal: Assign Internal &amp; External faculty.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Final grade compiler: Computes (S1 + S2)/2 scores automatically.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Phase 5 dual sign-off authorization engine (Supervisor -&gt; HOD).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8: Project Coordinator Defense Logistics 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ordinator_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Yaw Asante (Project Coordinator)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Coordination center for Programme Coordinators to schedule defense panels and track scripts.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Monitors examiner evaluation queues and ensures timely return of defense rubric scores.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Facilitates post-defense revision tracking between candidates and defense committees.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Defense panel scheduling and examiner script distribution.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Examiner submission progress tracker with overdue alert flags.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Departmental defense score compilation and rubric verification.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Post-defense correction compliance and clearance sign-off.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9: Dean Faculty Oversight &amp; Analytics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an_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Kofi Mensah (Dean of Faculty)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High-level strategic oversight dashboard for Deans to review faculty-wide academic output.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Provides completion rate metrics, cross-departmental analytics, and thesis archives.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Authorizes final institutional clearance for graduating candidate cohorts.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Faculty-wide completion KPIs and departmental throughput metrics.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Comprehensive review of approved defense scores and examiner verdicts.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Final faculty clearance sign-off for library publishing and graduation.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Accreditation report export and academic integrity audit tracking.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10: PhD Hub — 12-Stage Doctoral Progression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d_supervision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Dean / HOD / PhD Supervisors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Dedicated doctoral governance module enforcing the 12 mandatory PhD progression stages.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Spans Concept Paper approval through Fieldwork, 3x Publications, to Final Viva Defense.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Logs supervision meetings, discussion summaries, and next milestone deliverables.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12-Stage visual milestone progression bar with completion checks.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Supervision Meeting Logger: Captures meeting notes and action items.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Days-since-last-meeting counter with automated yellow/red warning flags.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Doctoral publication verification tab ensuring accreditation compliance.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11: PhD Student Dossiers &amp; Inactivity Risk Tracker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d_hub_doss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Kofi Mensah (Dean) / HODs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Complete candidate directory enabling Deans and HODs to audit doctoral progress.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Highlights dormant candidates who have not had a supervision meeting in &gt;30 or &gt;60 days.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Single source of truth for doctoral accreditation and viva readiness.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Summary KPI header: Active Doctoral Candidates, At Risk, Progress Rate.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Candidate Dossier Cards: Department, Stage Number, Current Milestone.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Multi-filter search by department and supervision compliance status.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One-click drilldown into complete 12-stage milestone logs.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12: System Administration &amp; User Management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min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System Administrator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Administrative command center for managing user accounts, security, and broadcast banners.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Allows assigning multi-role matrices, elevating permissions, and resetting passwords.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Includes the Broadcast Engine to dispatch real-time targeted alerts across dashboards.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User accounts directory with instant search by name, email, and school ID.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Inline role switcher (promote/demote roles with instant DB commit).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Broadcast Announcement Engine with targeted role scoping.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System health diagnostics, active user sessions, and database maintenance.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 (DESKTOP VIEW)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Page 13: Bulk CSV Student &amp; Staff Onboarding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7665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lk_csv_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58368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463040"/>
            <a:ext cx="3749039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6002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5D6EC7"/>
                </a:solidFill>
                <a:latin typeface="Inter"/>
              </a:defRPr>
            </a:pPr>
            <a:r>
              <a:t>👤 User View: System Administrator</a:t>
            </a:r>
          </a:p>
          <a:p>
            <a:pPr>
              <a:spcAft>
                <a:spcPts val="400"/>
              </a:spcAft>
              <a:defRPr sz="13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High-throughput data ingestion tool for onboarding entire academic cohorts in seconds.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Parses university SIS CSV files containing Student ID, Name, Email, School, and Dept.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• Automatically provisions secure hashed accounts and triggers welcome credential emails.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Drag-and-drop CSV file uploader with automated schema validation.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Duplicate record detection and existing profile update logic.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Real-time import progress bar and detailed error summary reports.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Inter"/>
              </a:defRPr>
            </a:pPr>
            <a:r>
              <a:t>✔ Automatic assignment of degree tracks (Undergrad / Masters / PhD).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PhD Hub: 12-Stage Doctoral Progression Framework</a:t>
            </a:r>
          </a:p>
        </p:txBody>
      </p:sp>
      <p:pic>
        <p:nvPicPr>
          <p:cNvPr id="3" name="Picture 2" descr="phd_12stag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Enterprise Security, Compliance &amp; Audit Trails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1E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3F6D"/>
                </a:solidFill>
                <a:latin typeface="Inter"/>
              </a:defRPr>
            </a:pPr>
            <a:r>
              <a:t>Cryptographic Security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JWT Stateless Tokens with SHA-256 signatures.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bcrypt password hashing with salt rounds.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HTTPS / TLS encryption on all API endpoints.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Document server callback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5D6EC7"/>
                </a:solidFill>
                <a:latin typeface="Inter"/>
              </a:defRPr>
            </a:pPr>
            <a:r>
              <a:t>Academic Integrity &amp; Compliance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Strict defense gate clearance before grade release.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Dual sign-off requirement (Supervisor + HOD).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Immutable examiner scoring records.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Anti-tamper PDF publication watermarking.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59669"/>
                </a:solidFill>
                <a:latin typeface="Inter"/>
              </a:defRPr>
            </a:pPr>
            <a:r>
              <a:t>Audit Logs &amp; Data Protection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Complete timestamped audit trail of all grade changes.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Automated database backup snapshots.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Role-scoped data isolation across departments.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GDPR &amp; Institutional data privacy compliance.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100" b="1">
                <a:solidFill>
                  <a:srgbClr val="1E3F6D"/>
                </a:solidFill>
                <a:latin typeface="Inter"/>
              </a:defRPr>
            </a:pPr>
            <a:r>
              <a:t>Live Production Deployment &amp;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1325880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A528A"/>
                </a:solidFill>
                <a:latin typeface="Inter"/>
              </a:defRPr>
            </a:pPr>
            <a:r>
              <a:t>Production Host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Ubuntu 22.04 LTS (VPS IP: 46.62.214.146)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Managed under /home/admin/web/thesis.manamatechnologies.com/app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1325880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Public Domain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https://thesis.manamatechnologies.com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Proxied via Cloudflare CDN with automated SSL/TLS termination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109728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59669"/>
                </a:solidFill>
                <a:latin typeface="Inter"/>
              </a:defRPr>
            </a:pPr>
            <a:r>
              <a:t>Backend Daemon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gimpa-backend.service (Systemd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FastAPI running on Uvicorn ASGI with multi-worker concurrency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154680"/>
            <a:ext cx="10972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  <a:latin typeface="Inter"/>
              </a:defRPr>
            </a:pPr>
            <a:r>
              <a:t>Frontend Daemon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gimpa-frontend.service (Systemd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Node.js production server hosting optimized React 19 / Vite build bundles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9728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Inter"/>
              </a:defRPr>
            </a:pPr>
            <a:r>
              <a:t>DocServer Container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onlyoffice-documentserver (Docker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Isolated container running document conversion and real-time collaboration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663440"/>
            <a:ext cx="109728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Inter"/>
              </a:defRPr>
            </a:pPr>
            <a:r>
              <a:t>Continuous Delivery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Git-synchronized continuous deployment with automated rebuild and restart daemons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89D3C"/>
                </a:solidFill>
                <a:latin typeface="Inter"/>
              </a:defRPr>
            </a:pPr>
            <a:r>
              <a:t>TRANSFORMING GIMPA RESEARCH EXCELLENCE</a:t>
            </a:r>
          </a:p>
          <a:p>
            <a:pPr>
              <a:spcAft>
                <a:spcPts val="2400"/>
              </a:spcAft>
              <a:defRPr sz="3200" b="1">
                <a:solidFill>
                  <a:srgbClr val="FFFFFF"/>
                </a:solidFill>
                <a:latin typeface="Inter"/>
              </a:defRPr>
            </a:pPr>
            <a:r>
              <a:t>Key Institutional Outcomes &amp; Next Steps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100% Paperless Workflow: Reduced thesis administration turnaround time from months to days.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Zero Lost Feedback: All examiner remarks and annotations permanently recorded in ONLYOFFICE version histories.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Accreditation Confidence: Rigorous 12-stage milestone compliance and verifiable publication records for PhDs.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Global Academic Visibility: GIMPA research discoverable by international institutions via the public catalog portal.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Scalable Infrastructure: Enterprise-grade architecture ready to support thousands of students across all academic faculties.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