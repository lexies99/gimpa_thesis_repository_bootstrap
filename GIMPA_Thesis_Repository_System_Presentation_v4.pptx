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89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C89D3C"/>
                </a:solidFill>
                <a:latin typeface="Inter"/>
              </a:defRPr>
            </a:pPr>
            <a:r>
              <a:t>GHANA INSTITUTE OF MANAGEMENT AND PUBLIC ADMINISTRATION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  <a:latin typeface="Inter"/>
              </a:defRPr>
            </a:pPr>
            <a:r>
              <a:t>GIMPA Thesis &amp; Dissertation</a:t>
            </a:r>
            <a:br/>
            <a:r>
              <a:t>Repository Management System</a:t>
            </a:r>
          </a:p>
          <a:p>
            <a:pPr>
              <a:spcAft>
                <a:spcPts val="2800"/>
              </a:spcAft>
              <a:defRPr sz="1500">
                <a:solidFill>
                  <a:srgbClr val="CBD5E1"/>
                </a:solidFill>
                <a:latin typeface="Inter"/>
              </a:defRPr>
            </a:pPr>
            <a:r>
              <a:t>Complete System Walkthrough: What Every Role Sees (Student, Supervisor, HOD, Dean, Examiner, Librarian, Admin) &amp; Exact Page Capabilities</a:t>
            </a:r>
          </a:p>
          <a:p>
            <a:pPr>
              <a:defRPr sz="1200" b="1">
                <a:solidFill>
                  <a:srgbClr val="5D6EC7"/>
                </a:solidFill>
                <a:latin typeface="Inter"/>
              </a:defRPr>
            </a:pPr>
            <a:r>
              <a:t>🏛️ Live Production URL: https://thesis.manamatechnologies.com  |  Role-by-Role Visual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1. SYSTEM OBJECTIVE &amp; OVERVIEW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Strategic Objectives &amp; 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11D48"/>
                </a:solidFill>
                <a:latin typeface="Inter"/>
              </a:defRPr>
            </a:pPr>
            <a:r>
              <a:t>⚠️ Challenges of Legacy Paper System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Fragmented Submissions: Printed thesis drafts scattered across physical offices, risking lost feedback and unverified versions.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Delayed Feedback Loops: Exchange between candidates, supervisors, and external examiners took weeks via manual drop-offs.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Examiner Discrepancies: Lack of automated rubric calculation and separate rules for Undergraduate (1 examiner) vs Postgraduate (2 examiners).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Zero Milestone Tracking: No centralized mechanism to monitor PhD progression, meeting frequency, or dormant candidacies.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Unindexed Archival: Approved research dissertations stayed in filing cabinets instead of a searchable global catalog.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59669"/>
                </a:solidFill>
                <a:latin typeface="Inter"/>
              </a:defRPr>
            </a:pPr>
            <a:r>
              <a:t>🎯 Core Objectives &amp; Solutions Delivered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100% Digital Lifecycle: 6-Phase state machine governing proposals, draft reviews, examination defenses, revisions, and archival.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In-Browser ONLYOFFICE Editing: Real-time collaborative DOCX editing with margin comments and track changes.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Automated Defense Rubrics: Standardized rubric engine computing final marks with strict dual sign-offs (Supervisor + HOD).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12-Stage PhD Governance Hub: Milestone matrix with automatic inactivity alerts, meeting logs, and publication tracking.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Public Institutional Repository: Open-access search catalog organized by faculty portals (GBS, SPSG, Law, SOTSS).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2. ROLE ARCHITECTURE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Role-Based Access Control (RBAC) &amp; User Accounts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18488"/>
            <a:ext cx="2377440" cy="438912"/>
          </a:xfrm>
          <a:prstGeom prst="roundRect">
            <a:avLst/>
          </a:prstGeom>
          <a:solidFill>
            <a:srgbClr val="2A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36776"/>
            <a:ext cx="2377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Student (John Smith)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581912"/>
            <a:ext cx="7772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A528A"/>
                </a:solidFill>
                <a:latin typeface="Inter"/>
              </a:defRPr>
            </a:pPr>
            <a:r>
              <a:t>Email: john.smith@st.gimpa.edu.gh</a:t>
            </a:r>
          </a:p>
          <a:p>
            <a:pPr>
              <a:defRPr sz="1000">
                <a:solidFill>
                  <a:srgbClr val="1E293B"/>
                </a:solidFill>
                <a:latin typeface="Inter"/>
              </a:defRPr>
            </a:pPr>
            <a:r>
              <a:t>Submit proposals, upload drafts, edit thesis in ONLYOFFICE, review examiner marks, log PhD meetings.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350008"/>
            <a:ext cx="2377440" cy="438912"/>
          </a:xfrm>
          <a:prstGeom prst="roundRect">
            <a:avLst/>
          </a:prstGeom>
          <a:solidFill>
            <a:srgbClr val="5D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2377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Supervisor (Abena Osei)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313432"/>
            <a:ext cx="7772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D6EC7"/>
                </a:solidFill>
                <a:latin typeface="Inter"/>
              </a:defRPr>
            </a:pPr>
            <a:r>
              <a:t>Email: abena.osei@gimpa.edu.gh</a:t>
            </a:r>
          </a:p>
          <a:p>
            <a:pPr>
              <a:defRPr sz="1000">
                <a:solidFill>
                  <a:srgbClr val="1E293B"/>
                </a:solidFill>
                <a:latin typeface="Inter"/>
              </a:defRPr>
            </a:pPr>
            <a:r>
              <a:t>Supervise assigned candidates, annotate thesis in ONLYOFFICE, track 12-stage milestones, sign off on defense.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7180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081528"/>
            <a:ext cx="237744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99816"/>
            <a:ext cx="2377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Examiner (Int / Ext)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044952"/>
            <a:ext cx="7772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97706"/>
                </a:solidFill>
                <a:latin typeface="Inter"/>
              </a:defRPr>
            </a:pPr>
            <a:r>
              <a:t>Email: Designated Academic Staff</a:t>
            </a:r>
          </a:p>
          <a:p>
            <a:pPr>
              <a:defRPr sz="1000">
                <a:solidFill>
                  <a:srgbClr val="1E293B"/>
                </a:solidFill>
                <a:latin typeface="Inter"/>
              </a:defRPr>
            </a:pPr>
            <a:r>
              <a:t>Evaluate assigned dissertations, fill structured rubric criteria, provide in-doc feedback, submit pass verdicts.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813048"/>
            <a:ext cx="2377440" cy="43891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31336"/>
            <a:ext cx="2377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HOD (Kwame Boadu)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776472"/>
            <a:ext cx="7772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11D48"/>
                </a:solidFill>
                <a:latin typeface="Inter"/>
              </a:defRPr>
            </a:pPr>
            <a:r>
              <a:t>Email: kwame.boadu@adj.gimpa.edu.gh</a:t>
            </a:r>
          </a:p>
          <a:p>
            <a:pPr>
              <a:defRPr sz="1000">
                <a:solidFill>
                  <a:srgbClr val="1E293B"/>
                </a:solidFill>
                <a:latin typeface="Inter"/>
              </a:defRPr>
            </a:pPr>
            <a:r>
              <a:t>Departmental pipeline oversight, allocate examiners, schedule oral defenses, grant primary Phase 5 sign-offs.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3484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4544568"/>
            <a:ext cx="237744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62856"/>
            <a:ext cx="2377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Coordinator (Yaw Asante)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507992"/>
            <a:ext cx="7772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C3AED"/>
                </a:solidFill>
                <a:latin typeface="Inter"/>
              </a:defRPr>
            </a:pPr>
            <a:r>
              <a:t>Email: yaw.asante@gimpa.edu.gh</a:t>
            </a:r>
          </a:p>
          <a:p>
            <a:pPr>
              <a:defRPr sz="1000">
                <a:solidFill>
                  <a:srgbClr val="1E293B"/>
                </a:solidFill>
                <a:latin typeface="Inter"/>
              </a:defRPr>
            </a:pPr>
            <a:r>
              <a:t>Coordinate defense dates, track examiner script submissions, compile composite marks, coordinate revisions.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6636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5276088"/>
            <a:ext cx="2377440" cy="43891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294376"/>
            <a:ext cx="2377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Dean (Kofi Mensah)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239512"/>
            <a:ext cx="7772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59669"/>
                </a:solidFill>
                <a:latin typeface="Inter"/>
              </a:defRPr>
            </a:pPr>
            <a:r>
              <a:t>Email: kofi.mensah@gimpa.edu.gh</a:t>
            </a:r>
          </a:p>
          <a:p>
            <a:pPr>
              <a:defRPr sz="1000">
                <a:solidFill>
                  <a:srgbClr val="1E293B"/>
                </a:solidFill>
                <a:latin typeface="Inter"/>
              </a:defRPr>
            </a:pPr>
            <a:r>
              <a:t>Faculty-wide completion analytics, review cross-department defense results, grant final institutional clearance.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89788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6007608"/>
            <a:ext cx="237744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6025896"/>
            <a:ext cx="2377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System Administrator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5971032"/>
            <a:ext cx="7772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293B"/>
                </a:solidFill>
                <a:latin typeface="Inter"/>
              </a:defRPr>
            </a:pPr>
            <a:r>
              <a:t>Email: admin@gimpa.edu.gh</a:t>
            </a:r>
          </a:p>
          <a:p>
            <a:pPr>
              <a:defRPr sz="1000">
                <a:solidFill>
                  <a:srgbClr val="1E293B"/>
                </a:solidFill>
                <a:latin typeface="Inter"/>
              </a:defRPr>
            </a:pPr>
            <a:r>
              <a:t>User account governance, bulk CSV student onboarding, system broadcast announcements, database backups.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2. USE CASE ARCHITECTURE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Master Role Use Case Architecture Diagram</a:t>
            </a:r>
          </a:p>
        </p:txBody>
      </p:sp>
      <p:pic>
        <p:nvPicPr>
          <p:cNvPr id="3" name="Picture 2" descr="usecase_mast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2. USE CASE ARCHITECTURE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UML Use Case Diagram: Student &amp; Supervisor Lifecycle</a:t>
            </a:r>
          </a:p>
        </p:txBody>
      </p:sp>
      <p:pic>
        <p:nvPicPr>
          <p:cNvPr id="3" name="Picture 2" descr="usecase_student_super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ROLE WALKTHROUGH: PUBLIC / VISITOR PORTAL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Page 1: Public Research Catalog &amp; Faculty Portals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ublic_catalog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Role: Public / Visitor Portal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Inter"/>
              </a:defRPr>
            </a:pPr>
            <a:r>
              <a:t>Account: Open to all students, faculty, and public</a:t>
            </a:r>
          </a:p>
          <a:p>
            <a:pPr>
              <a:spcAft>
                <a:spcPts val="300"/>
              </a:spcAft>
              <a:defRPr sz="1200" b="1">
                <a:solidFill>
                  <a:srgbClr val="1E3F6D"/>
                </a:solidFill>
                <a:latin typeface="Inter"/>
              </a:defRPr>
            </a:pPr>
            <a:r>
              <a:t>👀 What They See on This Screen: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The top navigation bar with institutional branding.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Four summary publication tabs: Trending, Highest Rated, Most Downloaded, and All Publications.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Faculty Portal exploration cards: GIMPA Business School (GBS), Public Service (SPSG), Law, and Technology (SOTSS).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Direct 'Sign In' button to access student/staff portals.</a:t>
            </a:r>
          </a:p>
          <a:p>
            <a:br/>
            <a:pPr>
              <a:spcAft>
                <a:spcPts val="300"/>
              </a:spcAft>
              <a:defRPr sz="1200" b="1">
                <a:solidFill>
                  <a:srgbClr val="059669"/>
                </a:solidFill>
                <a:latin typeface="Inter"/>
              </a:defRPr>
            </a:pPr>
            <a:r>
              <a:t>⚙️ What This Page Does: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Allows open-access discovery of GIMPA's approved dissertations.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Enables full-text title and abstract searches across disciplines.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Tracks global downloads and citation metrics.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Routes registered university members to secure login.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ROLE WALKTHROUGH: PUBLIC / VISITOR PORTAL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Page 2: Advanced Search &amp; Multi-Field Discovery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arch_discovery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Role: Public / Visitor Portal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Inter"/>
              </a:defRPr>
            </a:pPr>
            <a:r>
              <a:t>Account: Open to all students, faculty, and public</a:t>
            </a:r>
          </a:p>
          <a:p>
            <a:pPr>
              <a:spcAft>
                <a:spcPts val="300"/>
              </a:spcAft>
              <a:defRPr sz="1200" b="1">
                <a:solidFill>
                  <a:srgbClr val="1E3F6D"/>
                </a:solidFill>
                <a:latin typeface="Inter"/>
              </a:defRPr>
            </a:pPr>
            <a:r>
              <a:t>👀 What They See on This Screen: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Dynamic search input with real-time text matching.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Faceted filtering sidebar (Degree Level, Year, Faculty, Department).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Results listing with title, author, supervisor, and year badges.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Publication details drawer with complete abstract preview.</a:t>
            </a:r>
          </a:p>
          <a:p>
            <a:br/>
            <a:pPr>
              <a:spcAft>
                <a:spcPts val="300"/>
              </a:spcAft>
              <a:defRPr sz="1200" b="1">
                <a:solidFill>
                  <a:srgbClr val="059669"/>
                </a:solidFill>
                <a:latin typeface="Inter"/>
              </a:defRPr>
            </a:pPr>
            <a:r>
              <a:t>⚙️ What This Page Does: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Executes multi-field boolean search across thousands of works.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Filters research output by academic programme type.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Provides instant PDF script download and citation copying.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Enables academic researchers to review prior works.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ROLE WALKTHROUGH: ALL INSTITUTIONAL ROLES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Page 3: Institutional Authentication &amp; Login Portal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in_screen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Role: All Institutional Roles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Inter"/>
              </a:defRPr>
            </a:pPr>
            <a:r>
              <a:t>Account: Students, Supervisors, HODs, Deans, Examiners, Librarians, Admin</a:t>
            </a:r>
          </a:p>
          <a:p>
            <a:pPr>
              <a:spcAft>
                <a:spcPts val="300"/>
              </a:spcAft>
              <a:defRPr sz="1200" b="1">
                <a:solidFill>
                  <a:srgbClr val="1E3F6D"/>
                </a:solidFill>
                <a:latin typeface="Inter"/>
              </a:defRPr>
            </a:pPr>
            <a:r>
              <a:t>👀 What They See on This Screen: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Left desktop branding panel displaying GIMPA institutional repository stats.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Right login form with Email Address / Student ID and Password fields.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Remember-me checkbox and password reset links.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Clear role security alert banners.</a:t>
            </a:r>
          </a:p>
          <a:p>
            <a:br/>
            <a:pPr>
              <a:spcAft>
                <a:spcPts val="300"/>
              </a:spcAft>
              <a:defRPr sz="1200" b="1">
                <a:solidFill>
                  <a:srgbClr val="059669"/>
                </a:solidFill>
                <a:latin typeface="Inter"/>
              </a:defRPr>
            </a:pPr>
            <a:r>
              <a:t>⚙️ What This Page Does: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Validates user credentials against hashed password database (bcrypt).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Generates secure stateless JWT session tokens.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Automatically detects the user's role and redirects to their dashboard.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Protects all internal routes from unauthorized access.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ROLE WALKTHROUGH: STUDENT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Student View: Dashboard &amp; Submissions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ud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Role: Student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Inter"/>
              </a:defRPr>
            </a:pPr>
            <a:r>
              <a:t>Account: john.smith@st.gimpa.edu.gh</a:t>
            </a:r>
          </a:p>
          <a:p>
            <a:pPr>
              <a:spcAft>
                <a:spcPts val="300"/>
              </a:spcAft>
              <a:defRPr sz="1200" b="1">
                <a:solidFill>
                  <a:srgbClr val="1E3F6D"/>
                </a:solidFill>
                <a:latin typeface="Inter"/>
              </a:defRPr>
            </a:pPr>
            <a:r>
              <a:t>👀 What They See on This Screen: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Top 4 KPI metric cards: Total Submissions (0), Active In Review (0), Paper Downloads (0), Views (0).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My Submissions &amp; Workflow pipeline area.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Phase 1: 'Submit Your Thesis Topic' action box with purple button: 'Submit Thesis Topic (Phase 1)'.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Left sidebar showing Dashboard, PhD Hub, and My Profile.</a:t>
            </a:r>
          </a:p>
          <a:p>
            <a:br/>
            <a:pPr>
              <a:spcAft>
                <a:spcPts val="300"/>
              </a:spcAft>
              <a:defRPr sz="1200" b="1">
                <a:solidFill>
                  <a:srgbClr val="059669"/>
                </a:solidFill>
                <a:latin typeface="Inter"/>
              </a:defRPr>
            </a:pPr>
            <a:r>
              <a:t>⚙️ What This Page Does: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Allows students to submit thesis topics, proposals, and drafts.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Tracks the 6-phase academic lifecycle from topic to library archival.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Provides one-click access to the ONLYOFFICE in-browser editor.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Displays supervisor and examiner feedback notes upon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ROLE WALKTHROUGH: STUDENT (DOCTORAL TRACK)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Student View: PhD Programme Hub &amp; Supervision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udent_phd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Role: Student (Doctoral Track)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Inter"/>
              </a:defRPr>
            </a:pPr>
            <a:r>
              <a:t>Account: john.smith@st.gimpa.edu.gh</a:t>
            </a:r>
          </a:p>
          <a:p>
            <a:pPr>
              <a:spcAft>
                <a:spcPts val="300"/>
              </a:spcAft>
              <a:defRPr sz="1200" b="1">
                <a:solidFill>
                  <a:srgbClr val="1E3F6D"/>
                </a:solidFill>
                <a:latin typeface="Inter"/>
              </a:defRPr>
            </a:pPr>
            <a:r>
              <a:t>👀 What They See on This Screen: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Banner: GIMPA Business School — PhD Programme Hub.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4 Doctoral Summary Boxes: Enrolled PhD Students (0), Doctoral Candidates (0), 60-Day Inactivity Flag (0), Reaccreditation Folders (18 Standard).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7 Sub-Tab Navigation Buttons: PhD Student Dossiers, 12-Stage Supervision Logs, Seminars, Comp Exams, Teaching Practice, 6-Month Reviews, 18 Folders.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Search box to find students and specialization.</a:t>
            </a:r>
          </a:p>
          <a:p>
            <a:br/>
            <a:pPr>
              <a:spcAft>
                <a:spcPts val="300"/>
              </a:spcAft>
              <a:defRPr sz="1200" b="1">
                <a:solidFill>
                  <a:srgbClr val="059669"/>
                </a:solidFill>
                <a:latin typeface="Inter"/>
              </a:defRPr>
            </a:pPr>
            <a:r>
              <a:t>⚙️ What This Page Does: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Tracks progression through the mandatory 12 PhD stages.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Logs supervisory meetings, discussion notes, and action plans.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Monitors candidate activity to prevent dormancy (&gt;30 / &gt;60 days).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Stores verified doctoral journal publications for graduation.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ROLE WALKTHROUGH: STUDENT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Student View: Account Profile &amp; 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udent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Role: Student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Inter"/>
              </a:defRPr>
            </a:pPr>
            <a:r>
              <a:t>Account: john.smith@st.gimpa.edu.gh</a:t>
            </a:r>
          </a:p>
          <a:p>
            <a:pPr>
              <a:spcAft>
                <a:spcPts val="300"/>
              </a:spcAft>
              <a:defRPr sz="1200" b="1">
                <a:solidFill>
                  <a:srgbClr val="1E3F6D"/>
                </a:solidFill>
                <a:latin typeface="Inter"/>
              </a:defRPr>
            </a:pPr>
            <a:r>
              <a:t>👀 What They See on This Screen: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Account Information card with Full Name (John Smith), Email Address, Department (Accounting and Finance), Account Type (Student), and User ID (5).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Action buttons: 'Edit Profile' and 'Change Password'.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Security Tips section with institutional guidance.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Sidebar with active user avatar and logout button.</a:t>
            </a:r>
          </a:p>
          <a:p>
            <a:br/>
            <a:pPr>
              <a:spcAft>
                <a:spcPts val="300"/>
              </a:spcAft>
              <a:defRPr sz="1200" b="1">
                <a:solidFill>
                  <a:srgbClr val="059669"/>
                </a:solidFill>
                <a:latin typeface="Inter"/>
              </a:defRPr>
            </a:pPr>
            <a:r>
              <a:t>⚙️ What This Page Does: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Allows students to manage their personal account settings.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Enables changing and updating secure passwords.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Displays assigned academic department and student ID.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Provides safe session termination with instant token revocation.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ROLE WALKTHROUGH: STUDENT &amp; SUPERVISOR &amp; EXAMINER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In-App Feature: ONLYOFFICE Collaborative Word Editor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ocument_com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Role: Student &amp; Supervisor &amp; Examiner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Inter"/>
              </a:defRPr>
            </a:pPr>
            <a:r>
              <a:t>Account: Shared Collaborative Environment</a:t>
            </a:r>
          </a:p>
          <a:p>
            <a:pPr>
              <a:spcAft>
                <a:spcPts val="300"/>
              </a:spcAft>
              <a:defRPr sz="1200" b="1">
                <a:solidFill>
                  <a:srgbClr val="1E3F6D"/>
                </a:solidFill>
                <a:latin typeface="Inter"/>
              </a:defRPr>
            </a:pPr>
            <a:r>
              <a:t>👀 What They See on This Screen: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Full Microsoft Word (.docx) interface embedded inside the browser.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Document comment sidebar displaying examiner remarks and line-specific annotations.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Track-changes markup showing suggested additions and deletions.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Dual-button panel: 'Edit in ONLYOFFICE' and 'View Comments'.</a:t>
            </a:r>
          </a:p>
          <a:p>
            <a:br/>
            <a:pPr>
              <a:spcAft>
                <a:spcPts val="300"/>
              </a:spcAft>
              <a:defRPr sz="1200" b="1">
                <a:solidFill>
                  <a:srgbClr val="059669"/>
                </a:solidFill>
                <a:latin typeface="Inter"/>
              </a:defRPr>
            </a:pPr>
            <a:r>
              <a:t>⚙️ What This Page Does: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Enables students to apply corrections directly in the browser.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Allows supervisors and examiners to annotate drafts in real-time.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Automatically saves and commits modified DOCX files to the repository.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Eliminates the need for external desktop software or email attachments.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ROLE WALKTHROUGH: SUPERVISOR / LECTURER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Supervisor View: Supervisees &amp; Review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uperviso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Role: Supervisor / Lecturer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Inter"/>
              </a:defRPr>
            </a:pPr>
            <a:r>
              <a:t>Account: abena.osei@gimpa.edu.gh</a:t>
            </a:r>
          </a:p>
          <a:p>
            <a:pPr>
              <a:spcAft>
                <a:spcPts val="300"/>
              </a:spcAft>
              <a:defRPr sz="1200" b="1">
                <a:solidFill>
                  <a:srgbClr val="1E3F6D"/>
                </a:solidFill>
                <a:latin typeface="Inter"/>
              </a:defRPr>
            </a:pPr>
            <a:r>
              <a:t>👀 What They See on This Screen: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Active supervisees table listing student names, topics, and degree levels.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Status chips indicating draft submissions (Phase 1 Topic, Phase 2 Draft).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Direct action buttons: 'Open in ONLYOFFICE' to annotate student drafts.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Defense Readiness Sign-Off button to approve thesis for examination.</a:t>
            </a:r>
          </a:p>
          <a:p>
            <a:br/>
            <a:pPr>
              <a:spcAft>
                <a:spcPts val="300"/>
              </a:spcAft>
              <a:defRPr sz="1200" b="1">
                <a:solidFill>
                  <a:srgbClr val="059669"/>
                </a:solidFill>
                <a:latin typeface="Inter"/>
              </a:defRPr>
            </a:pPr>
            <a:r>
              <a:t>⚙️ What This Page Does: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Allows faculty supervisors to monitor all assigned student candidates.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Provides in-doc annotation tools to guide student research drafts.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Validates student meeting logs and milestone progress.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Authorizes student advancement to oral defense (Phase 3).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ROLE WALKTHROUGH: EXAMINER (INTERNAL / EXTERNAL)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Examiner View: Thesis Evaluation &amp; Defense Rubrics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pprova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Role: Examiner (Internal / External)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Inter"/>
              </a:defRPr>
            </a:pPr>
            <a:r>
              <a:t>Account: Assigned Academic Faculty</a:t>
            </a:r>
          </a:p>
          <a:p>
            <a:pPr>
              <a:spcAft>
                <a:spcPts val="300"/>
              </a:spcAft>
              <a:defRPr sz="1200" b="1">
                <a:solidFill>
                  <a:srgbClr val="1E3F6D"/>
                </a:solidFill>
                <a:latin typeface="Inter"/>
              </a:defRPr>
            </a:pPr>
            <a:r>
              <a:t>👀 What They See on This Screen: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Assigned examination queue listing student dissertations.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Standardized 5-part rubric scoring form (Problem, Literature, Methodology, Analysis, Defense).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Auto-calculating total score box and qualitative remarks editor.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Verdict selector: Pass, Minor Corrections, Major Corrections, Resubmit, Fail.</a:t>
            </a:r>
          </a:p>
          <a:p>
            <a:br/>
            <a:pPr>
              <a:spcAft>
                <a:spcPts val="300"/>
              </a:spcAft>
              <a:defRPr sz="1200" b="1">
                <a:solidFill>
                  <a:srgbClr val="059669"/>
                </a:solidFill>
                <a:latin typeface="Inter"/>
              </a:defRPr>
            </a:pPr>
            <a:r>
              <a:t>⚙️ What This Page Does: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Enforces standardized institutional grading criteria.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Computes weighted numerical marks automatically.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Records detailed examiner feedback for the defense committee.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Automatically distinguishes Undergrad (1 examiner) vs Postgrad (2 examiners).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ROLE WALKTHROUGH: HEAD OF DEPARTMENT (HOD)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HOD View: Departmental Pipeline &amp; Examiner Allocation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od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Role: Head of Department (HOD)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Inter"/>
              </a:defRPr>
            </a:pPr>
            <a:r>
              <a:t>Account: kwame.boadu@adj.gimpa.edu.gh</a:t>
            </a:r>
          </a:p>
          <a:p>
            <a:pPr>
              <a:spcAft>
                <a:spcPts val="300"/>
              </a:spcAft>
              <a:defRPr sz="1200" b="1">
                <a:solidFill>
                  <a:srgbClr val="1E3F6D"/>
                </a:solidFill>
                <a:latin typeface="Inter"/>
              </a:defRPr>
            </a:pPr>
            <a:r>
              <a:t>👀 What They See on This Screen: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Departmental thesis pipeline overview across all undergraduate and postgraduate cohorts.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Examiner Allocation Modal: Assign Internal and External examiners to candidates.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Defense score compiler: Aggregates Internal (S1) + External (S2) marks.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Phase 5 Dual Sign-off authorization button.</a:t>
            </a:r>
          </a:p>
          <a:p>
            <a:br/>
            <a:pPr>
              <a:spcAft>
                <a:spcPts val="300"/>
              </a:spcAft>
              <a:defRPr sz="1200" b="1">
                <a:solidFill>
                  <a:srgbClr val="059669"/>
                </a:solidFill>
                <a:latin typeface="Inter"/>
              </a:defRPr>
            </a:pPr>
            <a:r>
              <a:t>⚙️ What This Page Does: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Gives HODs complete oversight of all department research projects.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Manages examiner assignments and defense committee appointments.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Calculates composite final scores: (S1 + S2) / 2.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Issues primary departmental clearance for Dean review.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ROLE WALKTHROUGH: PROJECT COORDINATOR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Coordinator View: Defense Logistics &amp; Compilation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ordinato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Role: Project Coordinator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Inter"/>
              </a:defRPr>
            </a:pPr>
            <a:r>
              <a:t>Account: yaw.asante@gimpa.edu.gh</a:t>
            </a:r>
          </a:p>
          <a:p>
            <a:pPr>
              <a:spcAft>
                <a:spcPts val="300"/>
              </a:spcAft>
              <a:defRPr sz="1200" b="1">
                <a:solidFill>
                  <a:srgbClr val="1E3F6D"/>
                </a:solidFill>
                <a:latin typeface="Inter"/>
              </a:defRPr>
            </a:pPr>
            <a:r>
              <a:t>👀 What They See on This Screen: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Departmental defense scheduling queue and candidate lists.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Examiner submission progress tracker showing received and pending scripts.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Defense score aggregation matrix and grade compiler.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Post-defense correction verification tracker.</a:t>
            </a:r>
          </a:p>
          <a:p>
            <a:br/>
            <a:pPr>
              <a:spcAft>
                <a:spcPts val="300"/>
              </a:spcAft>
              <a:defRPr sz="1200" b="1">
                <a:solidFill>
                  <a:srgbClr val="059669"/>
                </a:solidFill>
                <a:latin typeface="Inter"/>
              </a:defRPr>
            </a:pPr>
            <a:r>
              <a:t>⚙️ What This Page Does: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Coordinates oral defense dates and panel allocations.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Tracks timely submission of examiner rubric evaluation forms.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Verifies that candidates have addressed all required post-defense corrections.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Prepares graduation clearance documentation for the HOD and Dean.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ROLE WALKTHROUGH: DEAN OF FACULTY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Dean View: Faculty Oversight &amp; Completion Analytics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a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Role: Dean of Faculty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Inter"/>
              </a:defRPr>
            </a:pPr>
            <a:r>
              <a:t>Account: kofi.mensah@gimpa.edu.gh</a:t>
            </a:r>
          </a:p>
          <a:p>
            <a:pPr>
              <a:spcAft>
                <a:spcPts val="300"/>
              </a:spcAft>
              <a:defRPr sz="1200" b="1">
                <a:solidFill>
                  <a:srgbClr val="1E3F6D"/>
                </a:solidFill>
                <a:latin typeface="Inter"/>
              </a:defRPr>
            </a:pPr>
            <a:r>
              <a:t>👀 What They See on This Screen: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Faculty-wide completion analytics across all academic departments.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Comprehensive review table of approved defense results and examiner verdicts.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Final Faculty Clearance authorization button for graduating cohorts.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Cross-departmental PhD progression and supervisor distribution metrics.</a:t>
            </a:r>
          </a:p>
          <a:p>
            <a:br/>
            <a:pPr>
              <a:spcAft>
                <a:spcPts val="300"/>
              </a:spcAft>
              <a:defRPr sz="1200" b="1">
                <a:solidFill>
                  <a:srgbClr val="059669"/>
                </a:solidFill>
                <a:latin typeface="Inter"/>
              </a:defRPr>
            </a:pPr>
            <a:r>
              <a:t>⚙️ What This Page Does: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Provides high-level institutional governance for the Dean.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Audits defense outcomes and ensures grading integrity.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Grants final institutional clearance for library catalog publishing.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Exports faculty-wide accreditation reports.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ROLE WALKTHROUGH: SYSTEM ADMINISTRATOR &amp; LEADERSHIP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Admin View: User Management &amp; Broadcast Announcements Hub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dmin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Role: System Administrator &amp; Leadership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Inter"/>
              </a:defRPr>
            </a:pPr>
            <a:r>
              <a:t>Account: admin@gimpa.edu.gh</a:t>
            </a:r>
          </a:p>
          <a:p>
            <a:pPr>
              <a:spcAft>
                <a:spcPts val="300"/>
              </a:spcAft>
              <a:defRPr sz="1200" b="1">
                <a:solidFill>
                  <a:srgbClr val="1E3F6D"/>
                </a:solidFill>
                <a:latin typeface="Inter"/>
              </a:defRPr>
            </a:pPr>
            <a:r>
              <a:t>👀 What They See on This Screen: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User accounts directory table with instant filtering by name, email, role, and student ID.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Inline role switcher dropdown (Student, Supervisor, HOD, Coordinator, Dean, Admin).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Bulk Broadcast Messaging Hub with Target Directory Filters &amp; Custom Recipient CSV Upload.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File &amp; Document Attachment uploader (PDF, Word, Guidelines) with dual in-app &amp; email delivery.</a:t>
            </a:r>
          </a:p>
          <a:p>
            <a:br/>
            <a:pPr>
              <a:spcAft>
                <a:spcPts val="300"/>
              </a:spcAft>
              <a:defRPr sz="1200" b="1">
                <a:solidFill>
                  <a:srgbClr val="059669"/>
                </a:solidFill>
                <a:latin typeface="Inter"/>
              </a:defRPr>
            </a:pPr>
            <a:r>
              <a:t>⚙️ What This Page Does: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Allows administrators to provision and manage all institutional user accounts.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Enables immediate role elevation, department mapping, and permission matrix updates.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Dispatches targeted broadcast announcements with attached guidelines to specific student/staff cohorts.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Supports uploading custom CSV email lists to broadcast urgent notices with download links.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ROLE WALKTHROUGH: SYSTEM ADMINISTRATOR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Admin View: Bulk CSV Student &amp; Staff Onboarding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ulk_csv_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Role: System Administrator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Inter"/>
              </a:defRPr>
            </a:pPr>
            <a:r>
              <a:t>Account: admin@gimpa.edu.gh</a:t>
            </a:r>
          </a:p>
          <a:p>
            <a:pPr>
              <a:spcAft>
                <a:spcPts val="300"/>
              </a:spcAft>
              <a:defRPr sz="1200" b="1">
                <a:solidFill>
                  <a:srgbClr val="1E3F6D"/>
                </a:solidFill>
                <a:latin typeface="Inter"/>
              </a:defRPr>
            </a:pPr>
            <a:r>
              <a:t>👀 What They See on This Screen: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Drag-and-drop CSV file uploader with automated schema validation.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Real-time import progress bar and batch statistics summary.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Detailed record validation preview: Name, Student ID, Email, Dept, Degree Level.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• Error reporting and duplicate record resolution panel.</a:t>
            </a:r>
          </a:p>
          <a:p>
            <a:br/>
            <a:pPr>
              <a:spcAft>
                <a:spcPts val="300"/>
              </a:spcAft>
              <a:defRPr sz="1200" b="1">
                <a:solidFill>
                  <a:srgbClr val="059669"/>
                </a:solidFill>
                <a:latin typeface="Inter"/>
              </a:defRPr>
            </a:pPr>
            <a:r>
              <a:t>⚙️ What This Page Does: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Onboards entire student cohorts (hundreds of accounts) in a single click.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Automatically generates secure hashed passwords and accounts.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Dispatches welcome credential emails to students via SMTP mailer.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Inter"/>
              </a:defRPr>
            </a:pPr>
            <a:r>
              <a:t>✔ Assigns default academic tracks (Undergraduate / Masters / PhD).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4. TECHNICAL EXCELLENCE &amp; GOVERNANCE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PhD Hub: 12-Stage Doctoral Progression Framework</a:t>
            </a:r>
          </a:p>
        </p:txBody>
      </p:sp>
      <p:pic>
        <p:nvPicPr>
          <p:cNvPr id="3" name="Picture 2" descr="phd_12stage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4. TECHNICAL EXCELLENCE &amp; GOVERNANCE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Enterprise Security, Compliance &amp; Audit Trails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109728"/>
          </a:xfrm>
          <a:prstGeom prst="rect">
            <a:avLst/>
          </a:prstGeom>
          <a:solidFill>
            <a:srgbClr val="1E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E3F6D"/>
                </a:solidFill>
                <a:latin typeface="Inter"/>
              </a:defRPr>
            </a:pPr>
            <a:r>
              <a:t>Cryptographic Security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JWT Stateless Tokens with SHA-256 signatures.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bcrypt password hashing with salt rounds.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HTTPS / TLS encryption on all API endpoints.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Document server callback authentication.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383280" cy="109728"/>
          </a:xfrm>
          <a:prstGeom prst="rect">
            <a:avLst/>
          </a:prstGeom>
          <a:solidFill>
            <a:srgbClr val="5D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5D6EC7"/>
                </a:solidFill>
                <a:latin typeface="Inter"/>
              </a:defRPr>
            </a:pPr>
            <a:r>
              <a:t>Academic Integrity &amp; Compliance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Strict defense gate clearance before grade release.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Dual sign-off requirement (Supervisor + HOD).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Immutable examiner scoring records.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Anti-tamper PDF publication watermarking.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59669"/>
                </a:solidFill>
                <a:latin typeface="Inter"/>
              </a:defRPr>
            </a:pPr>
            <a:r>
              <a:t>Audit Logs &amp; Data Protection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Complete timestamped audit trail of all grade changes.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Automated database backup snapshots.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Role-scoped data isolation across departments.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GDPR &amp; Institutional data privacy compliance.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4. TECHNICAL EXCELLENCE &amp; GOVERNANCE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Live Production Deployment &amp;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9728" cy="1325880"/>
          </a:xfrm>
          <a:prstGeom prst="rect">
            <a:avLst/>
          </a:prstGeom>
          <a:solidFill>
            <a:srgbClr val="2A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A528A"/>
                </a:solidFill>
                <a:latin typeface="Inter"/>
              </a:defRPr>
            </a:pPr>
            <a:r>
              <a:t>Production Host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Ubuntu 22.04 LTS (VPS IP: 46.62.214.146)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Managed under /home/admin/web/thesis.manamatechnologies.com/app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109728" cy="1325880"/>
          </a:xfrm>
          <a:prstGeom prst="rect">
            <a:avLst/>
          </a:prstGeom>
          <a:solidFill>
            <a:srgbClr val="5D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5D6EC7"/>
                </a:solidFill>
                <a:latin typeface="Inter"/>
              </a:defRPr>
            </a:pPr>
            <a:r>
              <a:t>Public Domain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https://thesis.manamatechnologies.com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Proxied via Cloudflare CDN with automated SSL/TLS termination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54680"/>
            <a:ext cx="109728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59669"/>
                </a:solidFill>
                <a:latin typeface="Inter"/>
              </a:defRPr>
            </a:pPr>
            <a:r>
              <a:t>Backend Daemon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gimpa-backend.service (Systemd Managed)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FastAPI running on Uvicorn ASGI with multi-worker concurrency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5468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154680"/>
            <a:ext cx="109728" cy="1325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9184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7C3AED"/>
                </a:solidFill>
                <a:latin typeface="Inter"/>
              </a:defRPr>
            </a:pPr>
            <a:r>
              <a:t>Frontend Daemon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gimpa-frontend.service (Systemd Managed)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Node.js production server hosting optimized React 19 / Vite build bundles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663440"/>
            <a:ext cx="109728" cy="1325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80060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97706"/>
                </a:solidFill>
                <a:latin typeface="Inter"/>
              </a:defRPr>
            </a:pPr>
            <a:r>
              <a:t>DocServer Container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onlyoffice-documentserver (Docker Managed)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Isolated container running document conversion and real-time collaboration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66344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663440"/>
            <a:ext cx="109728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80060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293B"/>
                </a:solidFill>
                <a:latin typeface="Inter"/>
              </a:defRPr>
            </a:pPr>
            <a:r>
              <a:t>Continuous Delivery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Git-synchronized continuous deployment with automated rebuild and restart daemons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89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C89D3C"/>
                </a:solidFill>
                <a:latin typeface="Inter"/>
              </a:defRPr>
            </a:pPr>
            <a:r>
              <a:t>TRANSFORMING GIMPA RESEARCH EXCELLENCE</a:t>
            </a:r>
          </a:p>
          <a:p>
            <a:pPr>
              <a:spcAft>
                <a:spcPts val="2400"/>
              </a:spcAft>
              <a:defRPr sz="3200" b="1">
                <a:solidFill>
                  <a:srgbClr val="FFFFFF"/>
                </a:solidFill>
                <a:latin typeface="Inter"/>
              </a:defRPr>
            </a:pPr>
            <a:r>
              <a:t>Key Institutional Outcomes &amp; Summary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Inter"/>
              </a:defRPr>
            </a:pPr>
            <a:r>
              <a:t>✔  100% Paperless Workflow: Reduced thesis administration turnaround time from months to days.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Inter"/>
              </a:defRPr>
            </a:pPr>
            <a:r>
              <a:t>✔  Zero Lost Feedback: All examiner remarks and annotations permanently recorded in ONLYOFFICE version histories.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Inter"/>
              </a:defRPr>
            </a:pPr>
            <a:r>
              <a:t>✔  Accreditation Confidence: Rigorous 12-stage milestone compliance and verifiable publication records for PhDs.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Inter"/>
              </a:defRPr>
            </a:pPr>
            <a:r>
              <a:t>✔  Global Academic Visibility: GIMPA research discoverable by international institutions via the public catalog portal.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Inter"/>
              </a:defRPr>
            </a:pPr>
            <a:r>
              <a:t>✔  Scalable Infrastructure: Enterprise-grade architecture ready to support thousands of students across all academic faculties.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